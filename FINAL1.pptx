
<file path=[Content_Types].xml><?xml version="1.0" encoding="utf-8"?>
<Types xmlns="http://schemas.openxmlformats.org/package/2006/content-types">
  <Default ContentType="image/vnd.ms-photo" Extension="wdp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hare.google/hEc9Uejhb5Wm0TYLd" TargetMode="External"/><Relationship Id="rId3" Type="http://schemas.openxmlformats.org/officeDocument/2006/relationships/hyperlink" Target="https://www.japi.org/article/japi-72-6-39" TargetMode="External"/><Relationship Id="rId7" Type="http://schemas.openxmlformats.org/officeDocument/2006/relationships/hyperlink" Target="https://share.google/jCkMqujNScaTlP6Zz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are.google/ttoGb2eOk90fQ8M3B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idf.org/media/uploads/2023/05/attachments-30.pdf" TargetMode="External"/><Relationship Id="rId10" Type="http://schemas.openxmlformats.org/officeDocument/2006/relationships/hyperlink" Target="https://sandbox.abdm.gov.in/sandbox/v3/documentation" TargetMode="External"/><Relationship Id="rId4" Type="http://schemas.openxmlformats.org/officeDocument/2006/relationships/hyperlink" Target="https://www.researchgate.net/publication/367462971" TargetMode="External"/><Relationship Id="rId9" Type="http://schemas.openxmlformats.org/officeDocument/2006/relationships/hyperlink" Target="https://share.google/XsGy1vVhoPhFKL9H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37" name="Shape 18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Google Shape;1843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9" name="Google Shape;1843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40" name="Google Shape;18440;p1"/>
          <p:cNvPicPr preferRelativeResize="0"/>
          <p:nvPr/>
        </p:nvPicPr>
        <p:blipFill rotWithShape="1">
          <a:blip r:embed="rId2">
            <a:alphaModFix/>
          </a:blip>
          <a:srcRect b="0" l="0" r="59916" t="0"/>
          <a:stretch/>
        </p:blipFill>
        <p:spPr>
          <a:xfrm>
            <a:off x="6854891" y="17158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41" name="Google Shape;18441;p1"/>
          <p:cNvSpPr txBox="1"/>
          <p:nvPr>
            <p:ph idx="1" type="subTitle"/>
          </p:nvPr>
        </p:nvSpPr>
        <p:spPr>
          <a:xfrm>
            <a:off x="1534886" y="22178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 and Problem Statement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42" name="Google Shape;18442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443" name="Google Shape;18443;p1"/>
          <p:cNvSpPr txBox="1"/>
          <p:nvPr/>
        </p:nvSpPr>
        <p:spPr>
          <a:xfrm>
            <a:off x="250085" y="2076450"/>
            <a:ext cx="6286500" cy="4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ID –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25131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Title-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Innovation: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Metabolic Health Prevention platform</a:t>
            </a:r>
            <a:endParaRPr b="1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Theme-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MedTech / BioTech / HealthTech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Category-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 -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Hexabyte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www.sih.gov.in/img1/SIH-Logo.png" id="18444" name="Google Shape;184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8342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MetRisk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895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Hexabyte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CCCD13F-D0D6-829A-9268-9850BAAE22BD}"/>
              </a:ext>
            </a:extLst>
          </p:cNvPr>
          <p:cNvSpPr txBox="1"/>
          <p:nvPr/>
        </p:nvSpPr>
        <p:spPr>
          <a:xfrm>
            <a:off x="3109998" y="995557"/>
            <a:ext cx="6923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TITLE: </a:t>
            </a:r>
            <a:r>
              <a:rPr lang="en-IN" i="1" dirty="0"/>
              <a:t>AI-Powered Metabolic Health Prevention platform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51838" y="1522107"/>
            <a:ext cx="4734289" cy="660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Our Solution Works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5339C0-FB30-52A3-3638-ABDDD68C8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8914"/>
          <a:stretch>
            <a:fillRect/>
          </a:stretch>
        </p:blipFill>
        <p:spPr>
          <a:xfrm>
            <a:off x="4187186" y="1514367"/>
            <a:ext cx="3673366" cy="42576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C065E6-5B6F-29B7-9DB7-5867C4A723BF}"/>
              </a:ext>
            </a:extLst>
          </p:cNvPr>
          <p:cNvSpPr txBox="1"/>
          <p:nvPr/>
        </p:nvSpPr>
        <p:spPr>
          <a:xfrm>
            <a:off x="599875" y="1514367"/>
            <a:ext cx="67150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It Addresses the Problem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25FD77C4-A49F-F595-79B3-5C4F52291D66}"/>
              </a:ext>
            </a:extLst>
          </p:cNvPr>
          <p:cNvGrpSpPr/>
          <p:nvPr/>
        </p:nvGrpSpPr>
        <p:grpSpPr>
          <a:xfrm>
            <a:off x="7647833" y="2602633"/>
            <a:ext cx="7022022" cy="3523017"/>
            <a:chOff x="7647833" y="2602633"/>
            <a:chExt cx="7022022" cy="352301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6D46C2A6-D661-27F7-5588-AE294620CEA2}"/>
                </a:ext>
              </a:extLst>
            </p:cNvPr>
            <p:cNvSpPr txBox="1"/>
            <p:nvPr/>
          </p:nvSpPr>
          <p:spPr>
            <a:xfrm>
              <a:off x="8175923" y="2602633"/>
              <a:ext cx="64939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Our Innovation &amp; Uniqueness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xmlns="" id="{CFA7A18C-78A9-C8C7-FF9D-7F2B84886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 t="16288" b="4260"/>
            <a:stretch>
              <a:fillRect/>
            </a:stretch>
          </p:blipFill>
          <p:spPr>
            <a:xfrm>
              <a:off x="7647833" y="2971965"/>
              <a:ext cx="4630795" cy="3153685"/>
            </a:xfrm>
            <a:prstGeom prst="rect">
              <a:avLst/>
            </a:prstGeom>
          </p:spPr>
        </p:pic>
      </p:grpSp>
      <p:pic>
        <p:nvPicPr>
          <p:cNvPr id="1026" name="Picture 2" descr="C:\Users\Library\Downloads\_- visual selection (2) (2)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75" y="1852501"/>
            <a:ext cx="3128576" cy="4753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14864"/>
            <a:ext cx="1600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Hexabyte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6C6B1CA-727B-3A96-5114-6E29556886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36" r="26720" b="2338"/>
          <a:stretch>
            <a:fillRect/>
          </a:stretch>
        </p:blipFill>
        <p:spPr>
          <a:xfrm>
            <a:off x="7994295" y="1252314"/>
            <a:ext cx="4056191" cy="5030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CDD25C3-208C-7BC8-F35C-9AC6F48D1DBD}"/>
              </a:ext>
            </a:extLst>
          </p:cNvPr>
          <p:cNvSpPr txBox="1"/>
          <p:nvPr/>
        </p:nvSpPr>
        <p:spPr>
          <a:xfrm>
            <a:off x="141514" y="3338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ED2D490-465D-280A-512A-D19F910E1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50000"/>
                    </a14:imgEffect>
                  </a14:imgLayer>
                </a14:imgProps>
              </a:ext>
            </a:extLst>
          </a:blip>
          <a:srcRect t="26882" r="1725" b="8900"/>
          <a:stretch>
            <a:fillRect/>
          </a:stretch>
        </p:blipFill>
        <p:spPr>
          <a:xfrm>
            <a:off x="-152361" y="3895214"/>
            <a:ext cx="8004561" cy="23749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B52757E-C5EC-8EF8-75D2-54D12F4C8534}"/>
              </a:ext>
            </a:extLst>
          </p:cNvPr>
          <p:cNvSpPr txBox="1"/>
          <p:nvPr/>
        </p:nvSpPr>
        <p:spPr>
          <a:xfrm>
            <a:off x="3719290" y="855374"/>
            <a:ext cx="761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F43A79AC-93E4-E54F-7F2B-98403BE28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2874" t="18253" r="3202" b="8350"/>
          <a:stretch>
            <a:fillRect/>
          </a:stretch>
        </p:blipFill>
        <p:spPr>
          <a:xfrm>
            <a:off x="2078635" y="1255484"/>
            <a:ext cx="5699676" cy="28797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54665" y="1183058"/>
            <a:ext cx="1730045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514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Hexabyte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9DC5DAE-8F0A-FEAA-ED57-618E74FC7D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9" t="18235" r="5752" b="7790"/>
          <a:stretch>
            <a:fillRect/>
          </a:stretch>
        </p:blipFill>
        <p:spPr>
          <a:xfrm>
            <a:off x="689557" y="1906333"/>
            <a:ext cx="3324177" cy="4157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F4A6D4E-9E7E-E376-2C4E-B4C85C3317F3}"/>
              </a:ext>
            </a:extLst>
          </p:cNvPr>
          <p:cNvSpPr txBox="1"/>
          <p:nvPr/>
        </p:nvSpPr>
        <p:spPr>
          <a:xfrm>
            <a:off x="7111198" y="120009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Our Solutions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070E5938-E647-F245-14B8-BEC9D5CF4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785" y="1632200"/>
            <a:ext cx="5483398" cy="426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2" y="252246"/>
            <a:ext cx="16514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Hexabyte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1473422"/>
            <a:ext cx="5779292" cy="4183229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47000" y="5346700"/>
            <a:ext cx="877092" cy="24765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22369"/>
            <a:ext cx="109728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Evolution of Metabolic Syndrome in Newly Diagnosed Type 2 Diabetes | Journal of Association of Physicians of India, Vol 72, No 6, 2024</a:t>
            </a:r>
            <a:br>
              <a:rPr lang="en-IN" dirty="0"/>
            </a:br>
            <a:r>
              <a:rPr lang="en-IN" dirty="0">
                <a:hlinkClick r:id="rId3"/>
              </a:rPr>
              <a:t>https://www.japi.org/article/japi-72-6-39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Consensus Statement for Diagnosis of Obesity, Abdominal Obesity and Metabolic Syndrome for Asian Indians | Research Gate 2023</a:t>
            </a:r>
            <a:br>
              <a:rPr lang="en-IN" dirty="0"/>
            </a:br>
            <a:r>
              <a:rPr lang="en-IN" dirty="0">
                <a:hlinkClick r:id="rId4"/>
              </a:rPr>
              <a:t>https://www.researchgate.net/publication/367462971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IDF Diabetes Atlas - Metabolic Syndrome Guidelines | International Diabetes Federation 2023</a:t>
            </a:r>
            <a:br>
              <a:rPr lang="en-IN" dirty="0"/>
            </a:br>
            <a:r>
              <a:rPr lang="en-IN" dirty="0">
                <a:hlinkClick r:id="rId5"/>
              </a:rPr>
              <a:t>https://idf.org/media/uploads/2023/05/attachments-30.pdf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predictive model for prevention of metabolic syndrome | PLOS One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https://share.google/ttoGb2eOk90fQ8M3B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Validation of Prediction Model for Risk Reduction of Metabolic Syndrome by Body Weight Control: A Prospective Population-based Study | Scientific Reports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https://share.google/jCkMqujNScaTlP6Zz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Machine-Learning-Enabled_Obesity_Level_Prediction_.pdf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https://share.google/hEc9Uejhb5Wm0TYLd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metabolic syndrome: Machine learning techniques for improved preventive medicine - Orit Goldman, Ofir Ben-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Assuli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Shimon Ababa, Ori Rogowski, Shlomo Berliner, 2025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https://share.google/XsGy1vVhoPhFKL9HS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/>
              <a:t>ABDM MVP 4.0 Integration Guidelines ,National Health Authority, Government of India </a:t>
            </a:r>
            <a:r>
              <a:rPr lang="en-US" dirty="0">
                <a:hlinkClick r:id="rId10"/>
              </a:rPr>
              <a:t>https://sandbox.abdm.gov.in/sandbox/v3/documentation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575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Hexabyte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